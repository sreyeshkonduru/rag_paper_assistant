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6952" y="0"/>
            <a:ext cx="4572000" cy="6858000"/>
          </a:xfrm>
          <a:prstGeom prst="rect">
            <a:avLst/>
          </a:prstGeom>
          <a:solidFill>
            <a:srgbClr val="0A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200400" cy="320040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1737360" cy="2926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SHARK TANK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RAGGuard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FFD1"/>
                </a:solidFill>
                <a:latin typeface="Calibri"/>
              </a:rPr>
              <a:t>Pre-Ingestion Intelligence for RAG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8D0E0"/>
                </a:solidFill>
                <a:latin typeface="Calibri"/>
              </a:rPr>
              <a:t>Filtering the noise — so your AI only learns from the best.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035040"/>
            <a:ext cx="11274552" cy="19050"/>
          </a:xfrm>
          <a:prstGeom prst="rect">
            <a:avLst/>
          </a:prstGeom>
          <a:solidFill>
            <a:srgbClr val="55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144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078"/>
                </a:solidFill>
                <a:latin typeface="Calibri"/>
              </a:rPr>
              <a:t>Data Science Capstone  |  Team RAGGuard  |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4070"/>
                </a:solidFill>
                <a:latin typeface="Courier New"/>
              </a:rPr>
              <a:t>{ RAG + AI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Calibri"/>
              </a:rPr>
              <a:t>"Every time an AI gives a wrong answer, we blame the model.
The problem starts much earlier — with the data."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14600"/>
            <a:ext cx="11274552" cy="1905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FFD1"/>
                </a:solidFill>
                <a:latin typeface="Calibri"/>
              </a:rPr>
              <a:t>In RAG systems, even a single irrelevant research paper can introduce hallucinations and misleading outputs.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520440"/>
            <a:ext cx="3291840" cy="1463040"/>
          </a:xfrm>
          <a:prstGeom prst="rect">
            <a:avLst/>
          </a:prstGeom>
          <a:solidFill>
            <a:srgbClr val="1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FF"/>
                </a:solidFill>
                <a:latin typeface="Calibri"/>
              </a:rPr>
              <a:t>1 bad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D0E0"/>
                </a:solidFill>
                <a:latin typeface="Calibri"/>
              </a:rPr>
              <a:t>can corrupt an entire
AI answer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3520440"/>
            <a:ext cx="3291840" cy="1463040"/>
          </a:xfrm>
          <a:prstGeom prst="rect">
            <a:avLst/>
          </a:prstGeom>
          <a:solidFill>
            <a:srgbClr val="1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3611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FF"/>
                </a:solidFill>
                <a:latin typeface="Calibri"/>
              </a:rPr>
              <a:t>0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D0E0"/>
                </a:solidFill>
                <a:latin typeface="Calibri"/>
              </a:rPr>
              <a:t>exist to filter papers
before RAG ingestion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3520440"/>
            <a:ext cx="3291840" cy="1463040"/>
          </a:xfrm>
          <a:prstGeom prst="rect">
            <a:avLst/>
          </a:prstGeom>
          <a:solidFill>
            <a:srgbClr val="18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3611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FF"/>
                </a:solidFill>
                <a:latin typeface="Calibri"/>
              </a:rPr>
              <a:t>$Billions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2062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D0E0"/>
                </a:solidFill>
                <a:latin typeface="Calibri"/>
              </a:rPr>
              <a:t>invested in RAG — on top
of unfiltered noisy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996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C200"/>
                </a:solidFill>
                <a:latin typeface="Calibri"/>
              </a:rPr>
              <a:t>The cure exists. We built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Three critical failures in today's RAG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74552" cy="16002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94360" cy="160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5727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Unfiltered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116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  <a:latin typeface="Calibri"/>
              </a:rPr>
              <a:t>RAG systems ingest raw academic data with zero quality gates — irrelevant, outdated papers enter unchecked.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783080"/>
            <a:ext cx="4114800" cy="868680"/>
          </a:xfrm>
          <a:prstGeom prst="rect">
            <a:avLst/>
          </a:prstGeom>
          <a:solidFill>
            <a:srgbClr val="1A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81051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FFD1"/>
                </a:solidFill>
                <a:latin typeface="Calibri"/>
              </a:rPr>
              <a:t>~40% of arXiv papers are irrelevant to any given domain 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1274552" cy="16002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594360" cy="160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644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Broken Semantic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033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  <a:latin typeface="Calibri"/>
              </a:rPr>
              <a:t>Naive chunking splits mid-concept, destroying the semantic coherence that embeddings depend 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3474720"/>
            <a:ext cx="4114800" cy="868680"/>
          </a:xfrm>
          <a:prstGeom prst="rect">
            <a:avLst/>
          </a:prstGeom>
          <a:solidFill>
            <a:srgbClr val="1A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50215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FFD1"/>
                </a:solidFill>
                <a:latin typeface="Calibri"/>
              </a:rPr>
              <a:t>Poor chunking degrades retrieval precision by up to 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1274552" cy="1600200"/>
          </a:xfrm>
          <a:prstGeom prst="rect">
            <a:avLst/>
          </a:prstGeom>
          <a:solidFill>
            <a:srgbClr val="10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594360" cy="16002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492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9560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Hallucination Amplification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3949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  <a:latin typeface="Calibri"/>
              </a:rPr>
              <a:t>Irrelevant chunks force LLMs to fill gaps with fabricated content — confident, wrong answers.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5166360"/>
            <a:ext cx="4114800" cy="868680"/>
          </a:xfrm>
          <a:prstGeom prst="rect">
            <a:avLst/>
          </a:prstGeom>
          <a:solidFill>
            <a:srgbClr val="1A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5193792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FFD1"/>
                </a:solidFill>
                <a:latin typeface="Calibri"/>
              </a:rPr>
              <a:t>1 bad context chunk = up to 3× more hallucinated sentences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The technology window is open — and it won't stay open forever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2560320" cy="25603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2560320" cy="63500"/>
          </a:xfrm>
          <a:prstGeom prst="rect">
            <a:avLst/>
          </a:prstGeom>
          <a:solidFill>
            <a:srgbClr val="55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6078"/>
                </a:solidFill>
                <a:latin typeface="Calibri"/>
              </a:rPr>
              <a:t>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328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GPT-3 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79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RAG concept introduced. Retrieval was crude keyword search.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27889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6078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874519"/>
            <a:ext cx="2560320" cy="25603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874519"/>
            <a:ext cx="2560320" cy="635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965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FF"/>
                </a:solidFill>
                <a:latin typeface="Calibri"/>
              </a:rPr>
              <a:t>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5328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Embedding Boom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926079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Sentence Transformers matured. Dense retrieval became viable.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27889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6078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874519"/>
            <a:ext cx="2560320" cy="25603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1874519"/>
            <a:ext cx="2560320" cy="635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965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FFD1"/>
                </a:solidFill>
                <a:latin typeface="Calibri"/>
              </a:rP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328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RAG Mainstream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26079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Every enterprise deploys RAG — but preprocessing still ignored.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7889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6078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1874519"/>
            <a:ext cx="2560320" cy="256032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55480" y="1874519"/>
            <a:ext cx="2560320" cy="635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1965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B2FFF"/>
                </a:solidFill>
                <a:latin typeface="Calibri"/>
              </a:rPr>
              <a:t>NOW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5328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926079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RAGGuard: the first pre-ingestion intelligence layer.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533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FFD1"/>
                </a:solidFill>
                <a:latin typeface="Calibri"/>
              </a:rPr>
              <a:t>"Eighteen months ago this product wasn't buildable. Today it is."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Introducing  RAGGuard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91672" cy="1371600"/>
          </a:xfrm>
          <a:prstGeom prst="rect">
            <a:avLst/>
          </a:prstGeom>
          <a:solidFill>
            <a:srgbClr val="00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09728" cy="13716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FFFF"/>
                </a:solidFill>
                <a:latin typeface="Calibri"/>
              </a:rPr>
              <a:t>RAGGuard is an AI-powered research assistant that helps AI teams improve RAG system accuracy by filtering and retrieving relevant research papers using classification and semantic 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2651760" cy="1508760"/>
          </a:xfrm>
          <a:prstGeom prst="rect">
            <a:avLst/>
          </a:prstGeom>
          <a:solidFill>
            <a:srgbClr val="0E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246120"/>
            <a:ext cx="2651760" cy="508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FF"/>
                </a:solidFill>
                <a:latin typeface="Calibri"/>
              </a:rPr>
              <a:t>🔍 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Classifier removes irrelevant
papers before indexing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3246120"/>
            <a:ext cx="2651760" cy="1508760"/>
          </a:xfrm>
          <a:prstGeom prst="rect">
            <a:avLst/>
          </a:prstGeom>
          <a:solidFill>
            <a:srgbClr val="0E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3246120"/>
            <a:ext cx="2651760" cy="508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D1"/>
                </a:solidFill>
                <a:latin typeface="Calibri"/>
              </a:rPr>
              <a:t>🎯  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Semantic MMR search finds
contextually relevant papers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8504" y="3246120"/>
            <a:ext cx="2651760" cy="1508760"/>
          </a:xfrm>
          <a:prstGeom prst="rect">
            <a:avLst/>
          </a:prstGeom>
          <a:solidFill>
            <a:srgbClr val="0E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18504" y="3246120"/>
            <a:ext cx="2651760" cy="50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B2FFF"/>
                </a:solidFill>
                <a:latin typeface="Calibri"/>
              </a:rPr>
              <a:t>⚡ 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&lt; 5 ms per paper —
production-ready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26296" y="3246120"/>
            <a:ext cx="2651760" cy="1508760"/>
          </a:xfrm>
          <a:prstGeom prst="rect">
            <a:avLst/>
          </a:prstGeom>
          <a:solidFill>
            <a:srgbClr val="0E0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26296" y="3246120"/>
            <a:ext cx="2651760" cy="508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200"/>
                </a:solidFill>
                <a:latin typeface="Calibri"/>
              </a:rPr>
              <a:t>🔬  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37947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E0"/>
                </a:solidFill>
                <a:latin typeface="Calibri"/>
              </a:rPr>
              <a:t>Probability scores +
feature weights visible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Four builders — one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51760" cy="2926080"/>
          </a:xfrm>
          <a:prstGeom prst="rect">
            <a:avLst/>
          </a:prstGeom>
          <a:solidFill>
            <a:srgbClr val="10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25880" y="1737360"/>
            <a:ext cx="1005840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755648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Speaker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D1"/>
                </a:solidFill>
                <a:latin typeface="Calibri"/>
              </a:rPr>
              <a:t>Hook &amp; Problem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0E0"/>
                </a:solidFill>
                <a:latin typeface="Calibri"/>
              </a:rPr>
              <a:t>Frames business urgency
and product narrative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2" y="1554480"/>
            <a:ext cx="2651760" cy="2926080"/>
          </a:xfrm>
          <a:prstGeom prst="rect">
            <a:avLst/>
          </a:prstGeom>
          <a:solidFill>
            <a:srgbClr val="10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737360"/>
            <a:ext cx="1005840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1755648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8803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Speaker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D1"/>
                </a:solidFill>
                <a:latin typeface="Calibri"/>
              </a:rPr>
              <a:t>Solution &amp;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703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0E0"/>
                </a:solidFill>
                <a:latin typeface="Calibri"/>
              </a:rPr>
              <a:t>Owns pipeline design
and system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18504" y="1554480"/>
            <a:ext cx="2651760" cy="2926080"/>
          </a:xfrm>
          <a:prstGeom prst="rect">
            <a:avLst/>
          </a:prstGeom>
          <a:solidFill>
            <a:srgbClr val="10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41464" y="1737360"/>
            <a:ext cx="1005840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1464" y="1755648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8803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Speaker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D1"/>
                </a:solidFill>
                <a:latin typeface="Calibri"/>
              </a:rPr>
              <a:t>ML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703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0E0"/>
                </a:solidFill>
                <a:latin typeface="Calibri"/>
              </a:rPr>
              <a:t>Classification model,
formula, demo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26296" y="1554480"/>
            <a:ext cx="2651760" cy="2926080"/>
          </a:xfrm>
          <a:prstGeom prst="rect">
            <a:avLst/>
          </a:prstGeom>
          <a:solidFill>
            <a:srgbClr val="10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49256" y="1737360"/>
            <a:ext cx="1005840" cy="100584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755648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28803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Speaker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D1"/>
                </a:solidFill>
                <a:latin typeface="Calibri"/>
              </a:rPr>
              <a:t>Business Strategist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3703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0E0"/>
                </a:solidFill>
                <a:latin typeface="Calibri"/>
              </a:rPr>
              <a:t>Validation, roadmap,
market strategy, close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362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C200"/>
                </a:solidFill>
                <a:latin typeface="Calibri"/>
              </a:rPr>
              <a:t>Now that you know the problem and the team — let's go inside the engine.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Production Architecture — AI Research Paper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7 / 18</a:t>
            </a:r>
          </a:p>
        </p:txBody>
      </p:sp>
      <p:pic>
        <p:nvPicPr>
          <p:cNvPr id="7" name="Picture 6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394" y="1325880"/>
            <a:ext cx="949816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How It Works — The Two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Built for every person in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8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3840480"/>
          </a:xfrm>
          <a:prstGeom prst="rect">
            <a:avLst/>
          </a:prstGeom>
          <a:solidFill>
            <a:srgbClr val="0C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303520" cy="508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FF"/>
                </a:solidFill>
                <a:latin typeface="Calibri"/>
              </a:rPr>
              <a:t>Layer 1 — Classification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0E0"/>
                </a:solidFill>
                <a:latin typeface="Calibri"/>
              </a:rPr>
              <a:t>Plain English: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"A smart reviewer reads each paper and decides: is this useful? If not — it never enters the pipeline."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0E0"/>
                </a:solidFill>
                <a:latin typeface="Calibri"/>
              </a:rPr>
              <a:t>Technical layer: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D1"/>
                </a:solidFill>
                <a:latin typeface="Calibri"/>
              </a:rPr>
              <a:t>Logistic Regression on engineered features: keyword presence, abstract structure, category encoding. Outputs P(relevant) — threshold-filtered before indexing.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303520" cy="3840480"/>
          </a:xfrm>
          <a:prstGeom prst="rect">
            <a:avLst/>
          </a:prstGeom>
          <a:solidFill>
            <a:srgbClr val="0C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5303520" cy="508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FFD1"/>
                </a:solidFill>
                <a:latin typeface="Calibri"/>
              </a:rPr>
              <a:t>Layer 2 — Semantic Search (MMR)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848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0E0"/>
                </a:solidFill>
                <a:latin typeface="Calibri"/>
              </a:rPr>
              <a:t>Plain English: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957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"Among approved papers, we find the most relevant ones to your question — and diversify results so you're not reading the same answer 5 times."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D0E0"/>
                </a:solidFill>
                <a:latin typeface="Calibri"/>
              </a:rPr>
              <a:t>Technical layer: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FFD1"/>
                </a:solidFill>
                <a:latin typeface="Calibri"/>
              </a:rPr>
              <a:t>SentenceTransformer embeddings (all-MiniLM-L6-v2) + Maximal Marginal Relevance (MMR, λ=0.6). Cosine similarity ranking with redundancy penalty — diverse high-relevance chunks.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36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200"/>
                </a:solidFill>
                <a:latin typeface="Calibri"/>
              </a:rPr>
              <a:t>⚡  Each paper processed in &lt; 5 ms  |  Scales to 1M+ papers with vector indexing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9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The Engine Behind the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1417320"/>
          </a:xfrm>
          <a:prstGeom prst="rect">
            <a:avLst/>
          </a:prstGeom>
          <a:solidFill>
            <a:srgbClr val="08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10360152" cy="381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43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FFD1"/>
                </a:solidFill>
                <a:latin typeface="Courier New"/>
              </a:rPr>
              <a:t>P( y = 1 | x )   =   1 / ( 1 + e^−( β₀ + β₁x₁ + β₂x₂ + ⋯ + βₙxₙ ) 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ourier New"/>
              </a:rPr>
              <a:t>P(y=1|x)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54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  <a:latin typeface="Calibri"/>
              </a:rPr>
              <a:t>Probability that a paper is relevant — the filter decision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25912" cy="54864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21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ourier New"/>
              </a:rPr>
              <a:t>x₁ … xₙ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216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  <a:latin typeface="Calibri"/>
              </a:rPr>
              <a:t>Engineered features: keyword density, abstract length, category encoding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42816"/>
            <a:ext cx="10725912" cy="54864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885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ourier New"/>
              </a:rPr>
              <a:t>β₀ … βₙ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8853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  <a:latin typeface="Calibri"/>
              </a:rPr>
              <a:t>Learned weights — the model's view of which features matter most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09744"/>
            <a:ext cx="10725912" cy="54864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554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ourier New"/>
              </a:rPr>
              <a:t>e^−(…)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8554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0E0"/>
                </a:solidFill>
                <a:latin typeface="Calibri"/>
              </a:rPr>
              <a:t>Sigmoid function — maps any value to a probability in (0, 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996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FC200"/>
                </a:solidFill>
                <a:latin typeface="Calibri"/>
              </a:rPr>
              <a:t>Why this formula?  →  Interpretable weights, fast inference, probabilistic output — ideal for explainable content filtering.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Filter → Retrieve → Answer — in 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474720" cy="347472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474720" cy="635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1737360" cy="29260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SCENE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Before RAGGuard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  <a:latin typeface="Calibri"/>
              </a:rPr>
              <a:t>Raw arXiv papers uploaded.
No filter applied.
LLM receives noisy,
mixed-quality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17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FFD1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3474720" cy="347472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554480"/>
            <a:ext cx="3474720" cy="635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1691640"/>
            <a:ext cx="1737360" cy="29260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69164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SCENE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121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RAGGuard Filters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6517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  <a:latin typeface="Calibri"/>
              </a:rPr>
              <a:t>Classifier assigns relevance
score to each paper.
Low-scoring papers rejected.
Top papers pass to semantic search.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017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FFD1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1554480"/>
            <a:ext cx="3474720" cy="347472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1554480"/>
            <a:ext cx="3474720" cy="635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691640"/>
            <a:ext cx="1737360" cy="292608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69164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SCENE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1214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517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E0"/>
                </a:solidFill>
                <a:latin typeface="Calibri"/>
              </a:rPr>
              <a:t>MMR retrieves diverse,
high-relevance chunks.
LLM generates grounded,
cited answer.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362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078"/>
                </a:solidFill>
                <a:latin typeface="Calibri"/>
              </a:rPr>
              <a:t>Input: paper metadata  →  Output: relevance score + retrieved papers + grounded cited answer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Evaluated on arXiv research papers — real data, real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2651760" cy="201168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2651760" cy="508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FF"/>
                </a:solidFill>
                <a:latin typeface="Calibri"/>
              </a:rPr>
              <a:t>0.82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414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Precision@5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6207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82% of retrieved chunks
are relevant to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1600200"/>
            <a:ext cx="2651760" cy="201168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600200"/>
            <a:ext cx="2651760" cy="508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D1"/>
                </a:solidFill>
                <a:latin typeface="Calibri"/>
              </a:rPr>
              <a:t>0.76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4414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Recall@5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86207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76% of relevant papers
successfully retrieved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8504" y="1600200"/>
            <a:ext cx="2651760" cy="201168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18504" y="1600200"/>
            <a:ext cx="2651760" cy="50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7B2FFF"/>
                </a:solidFill>
                <a:latin typeface="Calibri"/>
              </a:rPr>
              <a:t>66.7%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4414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Refusal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86207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Correctly declines
out-of-scope questions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26296" y="1600200"/>
            <a:ext cx="2651760" cy="201168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6296" y="1600200"/>
            <a:ext cx="2651760" cy="508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6" y="16916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9D353"/>
                </a:solidFill>
                <a:latin typeface="Calibri"/>
              </a:rPr>
              <a:t>&lt; 5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4414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Inference Speed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286207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0E0"/>
                </a:solidFill>
                <a:latin typeface="Calibri"/>
              </a:rPr>
              <a:t>Per paper — production
ready latency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40480"/>
            <a:ext cx="11274552" cy="1280160"/>
          </a:xfrm>
          <a:prstGeom prst="rect">
            <a:avLst/>
          </a:prstGeom>
          <a:solidFill>
            <a:srgbClr val="0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319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D353"/>
                </a:solidFill>
                <a:latin typeface="Calibri"/>
              </a:rPr>
              <a:t>Business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Reduces irrelevant context chunks entering RAG pipelines by up to 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902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Improves LLM answer precision — measurably fewer hallucinations per session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3717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✓  Equivalent to 3–5 hours of manual paper curation saved per research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Known Limitations &amp;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Engineering maturity means finding your own gaps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44752"/>
            <a:ext cx="11274552" cy="502920"/>
          </a:xfrm>
          <a:prstGeom prst="rect">
            <a:avLst/>
          </a:prstGeom>
          <a:solidFill>
            <a:srgbClr val="2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4D4D"/>
                </a:solidFill>
                <a:latin typeface="Calibri"/>
              </a:rPr>
              <a:t>⚠  We found these before you did — and we already have a 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4552" cy="1508760"/>
          </a:xfrm>
          <a:prstGeom prst="rect">
            <a:avLst/>
          </a:prstGeom>
          <a:solidFill>
            <a:srgbClr val="10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73152" cy="15087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85832" y="2212848"/>
            <a:ext cx="1737360" cy="292608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5832" y="22128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Medium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762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Feature-Based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786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  <a:latin typeface="Calibri"/>
              </a:rPr>
              <a:t>Current classifier relies on hand-engineered features. May miss nuanced relevance signals that deep semantics would catch.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9923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9D353"/>
                </a:solidFill>
                <a:latin typeface="Calibri"/>
              </a:rPr>
              <a:t>Mitigation: Integrate transformer-based embeddings (BERT/MiniLM) into classification. Scoped for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0752"/>
            <a:ext cx="11274552" cy="1508760"/>
          </a:xfrm>
          <a:prstGeom prst="rect">
            <a:avLst/>
          </a:prstGeom>
          <a:solidFill>
            <a:srgbClr val="10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30752"/>
            <a:ext cx="73152" cy="15087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85832" y="3840480"/>
            <a:ext cx="1737360" cy="292608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85832" y="38404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Addressable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0390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Small Evaluation Gold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062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E0"/>
                </a:solidFill>
                <a:latin typeface="Calibri"/>
              </a:rPr>
              <a:t>Evaluation ran on a 3-question template set. Precision/Recall numbers need validation on a larger benchmark.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268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9D353"/>
                </a:solidFill>
                <a:latin typeface="Calibri"/>
              </a:rPr>
              <a:t>Mitigation: Build 100-question gold set from arXiv abstracts across 5 domains. Target: Q2.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078"/>
                </a:solidFill>
                <a:latin typeface="Calibri"/>
              </a:rPr>
              <a:t>Transparency here is not a weakness — it is evidence that this team deploys responsibly.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Roadmap — Three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From prototype to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13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474720" cy="365760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474720" cy="635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81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B4FF"/>
                </a:solidFill>
                <a:latin typeface="Calibri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08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078"/>
                </a:solidFill>
                <a:latin typeface="Calibri"/>
              </a:rPr>
              <a:t>0 – 3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68296"/>
            <a:ext cx="2926080" cy="127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Working prototype deployed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Classifier + semantic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5701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ChromaDB vector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873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Groq LLM citation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177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Streamlit interactive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508760"/>
            <a:ext cx="3474720" cy="365760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508760"/>
            <a:ext cx="3474720" cy="635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581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FFD1"/>
                </a:solidFill>
                <a:latin typeface="Calibri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0208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078"/>
                </a:solidFill>
                <a:latin typeface="Calibri"/>
              </a:rPr>
              <a:t>3 – 12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368296"/>
            <a:ext cx="2926080" cy="127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49631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Transformer embeddings in classifier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2666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Production DB (Pinecone/Weaviate)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5701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REST API for pipeline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873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First enterprise design partner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6177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→  500-paper benchmark (5 domains)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1508760"/>
            <a:ext cx="3474720" cy="3657600"/>
          </a:xfrm>
          <a:prstGeom prst="rect">
            <a:avLst/>
          </a:prstGeom>
          <a:solidFill>
            <a:srgbClr val="0C0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1508760"/>
            <a:ext cx="3474720" cy="635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1581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2FFF"/>
                </a:solidFill>
                <a:latin typeface="Calibri"/>
              </a:rPr>
              <a:t>LATER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02082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078"/>
                </a:solidFill>
                <a:latin typeface="Calibri"/>
              </a:rPr>
              <a:t>12 – 24 Months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9640" y="2368296"/>
            <a:ext cx="2926080" cy="127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249631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Enterprise document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02666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Multi-modal filtering (tables/code)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55701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Data flywheel: relevance 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087368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SDK: LangChain + LlamaIndex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6177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◆  Compliance + bias audit layer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Market &amp;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Bottom-up sizing — we know exactly who we're selling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474720" cy="214884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474720" cy="508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FF"/>
                </a:solidFill>
                <a:latin typeface="Calibri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$18B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97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D0E0"/>
                </a:solidFill>
                <a:latin typeface="Calibri"/>
              </a:rPr>
              <a:t>Global RAG / Enterprise
AI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078"/>
                </a:solidFill>
                <a:latin typeface="Calibri"/>
              </a:rPr>
              <a:t>Total AI infra spend where
RAG pipelines are deployed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474720" cy="214884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3474720" cy="508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276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FFD1"/>
                </a:solidFill>
                <a:latin typeface="Calibri"/>
              </a:rP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57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$2.4B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97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D0E0"/>
                </a:solidFill>
                <a:latin typeface="Calibri"/>
              </a:rPr>
              <a:t>AI teams building RAG
applications &amp; doc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078"/>
                </a:solidFill>
                <a:latin typeface="Calibri"/>
              </a:rPr>
              <a:t>Teams with active RAG deployments
needing document preprocessing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554480"/>
            <a:ext cx="3474720" cy="2148840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554480"/>
            <a:ext cx="3474720" cy="508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6276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200"/>
                </a:solidFill>
                <a:latin typeface="Calibri"/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0574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$6M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97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D0E0"/>
                </a:solidFill>
                <a:latin typeface="Calibri"/>
              </a:rPr>
              <a:t>Early-adopter AI teams
(Year 1: 200 teams)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154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078"/>
                </a:solidFill>
                <a:latin typeface="Calibri"/>
              </a:rPr>
              <a:t>200 teams × $2,500/yr seat
= conservative Year 1 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11274552" cy="1115568"/>
          </a:xfrm>
          <a:prstGeom prst="rect">
            <a:avLst/>
          </a:prstGeom>
          <a:solidFill>
            <a:srgbClr val="10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200"/>
                </a:solidFill>
                <a:latin typeface="Calibri"/>
              </a:rPr>
              <a:t>Go-To-Market Wedge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Beachhead: AI engineering teams at B2B SaaS companies (50–500 seats) building internal RAG tools. Entry via GitHub / HuggingFace open-source community, then expand to enterprise API licensing.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556078"/>
                </a:solidFill>
                <a:latin typeface="Calibri"/>
              </a:rPr>
              <a:t>We started with a simple insight: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1">
                <a:solidFill>
                  <a:srgbClr val="FFFFFF"/>
                </a:solidFill>
                <a:latin typeface="Calibri"/>
              </a:rPr>
              <a:t>"Better models don't fix bad data."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11274552" cy="1905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FFD1"/>
                </a:solidFill>
                <a:latin typeface="Calibri"/>
              </a:rPr>
              <a:t>RAGGuard ensures only the right knowledge enters AI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5409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We're not just improving retrieval — we're improving the foundation.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2102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200"/>
                </a:solidFill>
                <a:latin typeface="Calibri"/>
              </a:rPr>
              <a:t>We're not pitching a model.  We're pitching a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160520"/>
            <a:ext cx="9445752" cy="1371600"/>
          </a:xfrm>
          <a:prstGeom prst="rect">
            <a:avLst/>
          </a:prstGeom>
          <a:solidFill>
            <a:srgbClr val="00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4160520"/>
            <a:ext cx="9445752" cy="508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233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FF"/>
                </a:solidFill>
                <a:latin typeface="Calibri"/>
              </a:rPr>
              <a:t>Our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636008"/>
            <a:ext cx="9079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Partner access to real-world RAG pipelines for pilot deployment and validation with production-scale document 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200"/>
                </a:solidFill>
                <a:latin typeface="Calibri"/>
              </a:rPr>
              <a:t>Let's make it together.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Anticipate the Sharks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Pre-loaded answers — PREP-Plus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274552" cy="109728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64008" cy="109728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8191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D1"/>
                </a:solidFill>
                <a:latin typeface="Calibri"/>
              </a:rPr>
              <a:t>Q: Why not just use embeddings?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A: Embeddings retrieve similarity — they don't filter noise. Our classifier removes irrelevant papers first, improving overall precision.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11274552" cy="1097280"/>
          </a:xfrm>
          <a:prstGeom prst="rect">
            <a:avLst/>
          </a:prstGeom>
          <a:solidFill>
            <a:srgbClr val="0C0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64008" cy="109728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7063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D1"/>
                </a:solidFill>
                <a:latin typeface="Calibri"/>
              </a:rPr>
              <a:t>Q: What's your novelty?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5468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A: We combine classification + semantic search. Most RAG systems only focus on retrieval. We own the pre-ingestion layer.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11274552" cy="109728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64008" cy="109728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5935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D1"/>
                </a:solidFill>
                <a:latin typeface="Calibri"/>
              </a:rPr>
              <a:t>Q: Why Logistic Regression?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4340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A: We prioritized interpretability and speed — critical for explainable, auditable filtering. Transformer upgrade scoped for Q2.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11274552" cy="1097280"/>
          </a:xfrm>
          <a:prstGeom prst="rect">
            <a:avLst/>
          </a:prstGeom>
          <a:solidFill>
            <a:srgbClr val="0C0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074920"/>
            <a:ext cx="64008" cy="109728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4807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D1"/>
                </a:solidFill>
                <a:latin typeface="Calibri"/>
              </a:rPr>
              <a:t>Q: What stops a large company from copying you?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3212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A: Our moat is the relevance feedback data flywheel. By the time a large player builds this, we have 18 months of production signal they don't have.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12188952" cy="1188720"/>
          </a:xfrm>
          <a:prstGeom prst="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FFD1"/>
                </a:solidFill>
                <a:latin typeface="Calibri"/>
              </a:rPr>
              <a:t>Every component chosen for a 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6078"/>
                </a:solidFill>
                <a:latin typeface="Calibri"/>
              </a:rPr>
              <a:t>17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474720" cy="508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FF"/>
                </a:solidFill>
                <a:latin typeface="Calibri"/>
              </a:rPr>
              <a:t>SentenceTransformers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38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all-MiniLM-L6-v2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671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Local embedding model — no API dependency, fast accurate semantic encoding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3474720" cy="50800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D1"/>
                </a:solidFill>
                <a:latin typeface="Calibri"/>
              </a:rPr>
              <a:t>ChromaDB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938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Vector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671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Persistent local vector DB — stores embedded chunks, cosine similarity 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508760"/>
            <a:ext cx="3474720" cy="508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FFF"/>
                </a:solidFill>
                <a:latin typeface="Calibri"/>
              </a:rPr>
              <a:t>MMR 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38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Retrieval Diversifier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1671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Maximal Marginal Relevance (λ=0.6) — prevents redundant chunk retrieval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3474720" cy="50800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200"/>
                </a:solidFill>
                <a:latin typeface="Calibri"/>
              </a:rPr>
              <a:t>Groq LLM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4015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llama-3.3-70b-versatile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630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Ultra-low latency LLM — OpenAI-compatible, citation-aware system prompt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97180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2971800"/>
            <a:ext cx="3474720" cy="50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D4D"/>
                </a:solidFill>
                <a:latin typeface="Calibri"/>
              </a:rPr>
              <a:t>Logistic Regression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4015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scikit-learn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630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Paper relevance classifier — probability output, sub-5ms inference per paper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971800"/>
            <a:ext cx="3474720" cy="1261872"/>
          </a:xfrm>
          <a:prstGeom prst="rect">
            <a:avLst/>
          </a:prstGeom>
          <a:solidFill>
            <a:srgbClr val="0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2971800"/>
            <a:ext cx="3474720" cy="508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9D353"/>
                </a:solidFill>
                <a:latin typeface="Calibri"/>
              </a:rPr>
              <a:t>Streamlit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4015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078"/>
                </a:solidFill>
                <a:latin typeface="Calibri"/>
              </a:rPr>
              <a:t>Interactive 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630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E0"/>
                </a:solidFill>
                <a:latin typeface="Calibri"/>
              </a:rPr>
              <a:t>Upload PDFs, quick actions, chat Q&amp;A, source citation display panel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RAGGuard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FFD1"/>
                </a:solidFill>
                <a:latin typeface="Calibri"/>
              </a:rPr>
              <a:t>Pre-Ingestion Intelligence for RAG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703320"/>
            <a:ext cx="11274552" cy="1905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1">
                <a:solidFill>
                  <a:srgbClr val="FFC200"/>
                </a:solidFill>
                <a:latin typeface="Calibri"/>
              </a:rPr>
              <a:t>Questions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6078"/>
                </a:solidFill>
                <a:latin typeface="Calibri"/>
              </a:rPr>
              <a:t>github.com/sreyeshkonduru/RAG_Paper_Assistant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078"/>
                </a:solidFill>
                <a:latin typeface="Calibri"/>
              </a:rPr>
              <a:t>Data Science Capstone  |  Team RAGGuard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